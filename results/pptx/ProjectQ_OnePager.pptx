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2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777240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FFFFFF"/>
                </a:solidFill>
              </a:rPr>
              <a:t>ProjectQ</a:t>
            </a:r>
          </a:p>
          <a:p>
            <a:pPr>
              <a:spcBef>
                <a:spcPts val="300"/>
              </a:spcBef>
            </a:pPr>
            <a:r>
              <a:rPr sz="1100" b="0" i="0">
                <a:solidFill>
                  <a:srgbClr val="B8C4D4"/>
                </a:solidFill>
              </a:rPr>
              <a:t>The invisible member of your engineering 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822960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1">
                <a:solidFill>
                  <a:srgbClr val="808AA0"/>
                </a:solidFill>
              </a:rPr>
              <a:t>Platform engineering meets AI. One capability. Every team gets an invisible +1. Sprint value goes up.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15568"/>
            <a:ext cx="914400" cy="50292"/>
          </a:xfrm>
          <a:prstGeom prst="rect">
            <a:avLst/>
          </a:prstGeom>
          <a:solidFill>
            <a:srgbClr val="02A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378440" y="118872"/>
            <a:ext cx="1463040" cy="822960"/>
          </a:xfrm>
          <a:prstGeom prst="rect">
            <a:avLst/>
          </a:prstGeom>
          <a:solidFill>
            <a:srgbClr val="F07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78440" y="219456"/>
            <a:ext cx="146304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N + 1</a:t>
            </a:r>
          </a:p>
        </p:txBody>
      </p:sp>
      <p:sp>
        <p:nvSpPr>
          <p:cNvPr id="9" name="Rectangle 8"/>
          <p:cNvSpPr/>
          <p:nvPr/>
        </p:nvSpPr>
        <p:spPr>
          <a:xfrm>
            <a:off x="5422392" y="1261872"/>
            <a:ext cx="22860" cy="4096512"/>
          </a:xfrm>
          <a:prstGeom prst="rect">
            <a:avLst/>
          </a:prstGeom>
          <a:solidFill>
            <a:srgbClr val="DCE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325880"/>
            <a:ext cx="491947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A1A2E"/>
                </a:solidFill>
              </a:rPr>
              <a:t>WHY PLATFORM ENGINEERING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536192"/>
            <a:ext cx="1417320" cy="36576"/>
          </a:xfrm>
          <a:prstGeom prst="rect">
            <a:avLst/>
          </a:prstGeom>
          <a:solidFill>
            <a:srgbClr val="F07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1645919"/>
            <a:ext cx="4919472" cy="1417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1" i="0">
                <a:solidFill>
                  <a:srgbClr val="1A1A2E"/>
                </a:solidFill>
              </a:rPr>
              <a:t>Cognitive Overload</a:t>
            </a:r>
            <a:r>
              <a:rPr sz="800" b="0" i="0">
                <a:solidFill>
                  <a:srgbClr val="444458"/>
                </a:solidFill>
              </a:rPr>
              <a:t> — Developers waste energy choosing, configuring, and maintaining AI tools instead of solving business problems.</a:t>
            </a:r>
          </a:p>
          <a:p>
            <a:pPr>
              <a:spcBef>
                <a:spcPts val="300"/>
              </a:spcBef>
            </a:pPr>
            <a:r>
              <a:rPr sz="800" b="1" i="0">
                <a:solidFill>
                  <a:srgbClr val="1A1A2E"/>
                </a:solidFill>
              </a:rPr>
              <a:t>No Integrated Ecosystem</a:t>
            </a:r>
            <a:r>
              <a:rPr sz="800" b="0" i="0">
                <a:solidFill>
                  <a:srgbClr val="444458"/>
                </a:solidFill>
              </a:rPr>
              <a:t> — Teams have isolated AI tools, not a connected experience. No shared context, no continuity between refinement, coding, review, and delivery.</a:t>
            </a:r>
          </a:p>
          <a:p>
            <a:pPr>
              <a:spcBef>
                <a:spcPts val="300"/>
              </a:spcBef>
            </a:pPr>
            <a:r>
              <a:rPr sz="800" b="1" i="0">
                <a:solidFill>
                  <a:srgbClr val="1A1A2E"/>
                </a:solidFill>
              </a:rPr>
              <a:t>Sprint Value is Hard to Protect</a:t>
            </a:r>
            <a:r>
              <a:rPr sz="800" b="0" i="0">
                <a:solidFill>
                  <a:srgbClr val="444458"/>
                </a:solidFill>
              </a:rPr>
              <a:t> — Maintaining alignment between what's planned and delivered requires constant attention across multiple tools and handoffs.</a:t>
            </a:r>
          </a:p>
          <a:p>
            <a:pPr>
              <a:spcBef>
                <a:spcPts val="300"/>
              </a:spcBef>
            </a:pPr>
            <a:r>
              <a:rPr sz="800" b="1" i="0">
                <a:solidFill>
                  <a:srgbClr val="1A1A2E"/>
                </a:solidFill>
              </a:rPr>
              <a:t>Every Team Starts from Zero</a:t>
            </a:r>
            <a:r>
              <a:rPr sz="800" b="0" i="0">
                <a:solidFill>
                  <a:srgbClr val="444458"/>
                </a:solidFill>
              </a:rPr>
              <a:t> — Without platform-provided AI, each team builds their own workflow. Duplication, inconsistency, no standards.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200400"/>
            <a:ext cx="491947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A1A2E"/>
                </a:solidFill>
              </a:rPr>
              <a:t>THE IDEA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410712"/>
            <a:ext cx="594360" cy="36576"/>
          </a:xfrm>
          <a:prstGeom prst="rect">
            <a:avLst/>
          </a:prstGeom>
          <a:solidFill>
            <a:srgbClr val="02A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3502152"/>
            <a:ext cx="4919472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444458"/>
                </a:solidFill>
              </a:rPr>
              <a:t>ProjectQ is the kiss-and-ride experience for AI-native development. Platform engineering builds it once. Teams step in and start delivering. Minimal setup. No cognitive load. Just an invisible +1 member that watches over story quality, code, tests, security, and sprint outcomes — so developers can focus entirely on what matters: business value and quality.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4279392"/>
            <a:ext cx="621792" cy="274320"/>
          </a:xfrm>
          <a:prstGeom prst="rect">
            <a:avLst/>
          </a:prstGeom>
          <a:solidFill>
            <a:srgbClr val="CC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4325112"/>
            <a:ext cx="621792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50" b="0" i="0">
                <a:solidFill>
                  <a:srgbClr val="1A1A2E"/>
                </a:solidFill>
              </a:rPr>
              <a:t>Dev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52144" y="4279392"/>
            <a:ext cx="621792" cy="274320"/>
          </a:xfrm>
          <a:prstGeom prst="rect">
            <a:avLst/>
          </a:prstGeom>
          <a:solidFill>
            <a:srgbClr val="CC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52144" y="4325112"/>
            <a:ext cx="621792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50" b="0" i="0">
                <a:solidFill>
                  <a:srgbClr val="1A1A2E"/>
                </a:solidFill>
              </a:rPr>
              <a:t>Dev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938528" y="4279392"/>
            <a:ext cx="621792" cy="274320"/>
          </a:xfrm>
          <a:prstGeom prst="rect">
            <a:avLst/>
          </a:prstGeom>
          <a:solidFill>
            <a:srgbClr val="CC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938528" y="4325112"/>
            <a:ext cx="621792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50" b="0" i="0">
                <a:solidFill>
                  <a:srgbClr val="1A1A2E"/>
                </a:solidFill>
              </a:rPr>
              <a:t>QA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24912" y="4279392"/>
            <a:ext cx="621792" cy="274320"/>
          </a:xfrm>
          <a:prstGeom prst="rect">
            <a:avLst/>
          </a:prstGeom>
          <a:solidFill>
            <a:srgbClr val="CC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24912" y="4325112"/>
            <a:ext cx="621792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50" b="0" i="0">
                <a:solidFill>
                  <a:srgbClr val="1A1A2E"/>
                </a:solidFill>
              </a:rPr>
              <a:t>PO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511296" y="4279392"/>
            <a:ext cx="621792" cy="274320"/>
          </a:xfrm>
          <a:prstGeom prst="rect">
            <a:avLst/>
          </a:prstGeom>
          <a:solidFill>
            <a:srgbClr val="CC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11296" y="4325112"/>
            <a:ext cx="621792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50" b="0" i="0">
                <a:solidFill>
                  <a:srgbClr val="1A1A2E"/>
                </a:solidFill>
              </a:rPr>
              <a:t>SM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43400" y="4279392"/>
            <a:ext cx="25603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02A88A"/>
                </a:solidFill>
              </a:rPr>
              <a:t>+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636008" y="4279392"/>
            <a:ext cx="621792" cy="274320"/>
          </a:xfrm>
          <a:prstGeom prst="rect">
            <a:avLst/>
          </a:prstGeom>
          <a:solidFill>
            <a:srgbClr val="02A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36008" y="4325112"/>
            <a:ext cx="621792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ProjectQ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559552" y="1325880"/>
            <a:ext cx="629107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A1A2E"/>
                </a:solidFill>
              </a:rPr>
              <a:t>SPRINT AGENT MAP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559552" y="1536192"/>
            <a:ext cx="1234440" cy="36576"/>
          </a:xfrm>
          <a:prstGeom prst="rect">
            <a:avLst/>
          </a:prstGeom>
          <a:solidFill>
            <a:srgbClr val="F07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559552" y="1673352"/>
            <a:ext cx="19202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50" b="1" i="0">
                <a:solidFill>
                  <a:srgbClr val="02A88A"/>
                </a:solidFill>
              </a:rPr>
              <a:t>PRE-SPRINT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559552" y="1874520"/>
            <a:ext cx="1920240" cy="22860"/>
          </a:xfrm>
          <a:prstGeom prst="rect">
            <a:avLst/>
          </a:prstGeom>
          <a:solidFill>
            <a:srgbClr val="02A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559552" y="1984248"/>
            <a:ext cx="91440" cy="91440"/>
          </a:xfrm>
          <a:prstGeom prst="rect">
            <a:avLst/>
          </a:prstGeom>
          <a:solidFill>
            <a:srgbClr val="02A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715000" y="1947672"/>
            <a:ext cx="1755648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750" b="1" i="0">
                <a:solidFill>
                  <a:srgbClr val="1A1A2E"/>
                </a:solidFill>
              </a:rPr>
              <a:t>Story Quality Analyst</a:t>
            </a:r>
          </a:p>
          <a:p>
            <a:pPr>
              <a:spcBef>
                <a:spcPts val="100"/>
              </a:spcBef>
            </a:pPr>
            <a:r>
              <a:rPr sz="700" b="0" i="0">
                <a:solidFill>
                  <a:srgbClr val="444458"/>
                </a:solidFill>
              </a:rPr>
              <a:t>Enriches ACs, flags edge cases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559552" y="2368296"/>
            <a:ext cx="91440" cy="91440"/>
          </a:xfrm>
          <a:prstGeom prst="rect">
            <a:avLst/>
          </a:prstGeom>
          <a:solidFill>
            <a:srgbClr val="02A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715000" y="2331720"/>
            <a:ext cx="1755648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750" b="1" i="0">
                <a:solidFill>
                  <a:srgbClr val="1A1A2E"/>
                </a:solidFill>
              </a:rPr>
              <a:t>Dependency Scanner</a:t>
            </a:r>
          </a:p>
          <a:p>
            <a:pPr>
              <a:spcBef>
                <a:spcPts val="100"/>
              </a:spcBef>
            </a:pPr>
            <a:r>
              <a:rPr sz="700" b="0" i="0">
                <a:solidFill>
                  <a:srgbClr val="444458"/>
                </a:solidFill>
              </a:rPr>
              <a:t>Identifies conflicts before sprint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559552" y="2752344"/>
            <a:ext cx="91440" cy="91440"/>
          </a:xfrm>
          <a:prstGeom prst="rect">
            <a:avLst/>
          </a:prstGeom>
          <a:solidFill>
            <a:srgbClr val="02A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715000" y="2715768"/>
            <a:ext cx="1755648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750" b="1" i="0">
                <a:solidFill>
                  <a:srgbClr val="1A1A2E"/>
                </a:solidFill>
              </a:rPr>
              <a:t>Sprint Goal Synthesizer</a:t>
            </a:r>
          </a:p>
          <a:p>
            <a:pPr>
              <a:spcBef>
                <a:spcPts val="100"/>
              </a:spcBef>
            </a:pPr>
            <a:r>
              <a:rPr sz="700" b="0" i="0">
                <a:solidFill>
                  <a:srgbClr val="444458"/>
                </a:solidFill>
              </a:rPr>
              <a:t>Summarizes business value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653528" y="1673352"/>
            <a:ext cx="19202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50" b="1" i="0">
                <a:solidFill>
                  <a:srgbClr val="028FBF"/>
                </a:solidFill>
              </a:rPr>
              <a:t>DURING SPRINT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653528" y="1874520"/>
            <a:ext cx="1920240" cy="22860"/>
          </a:xfrm>
          <a:prstGeom prst="rect">
            <a:avLst/>
          </a:prstGeom>
          <a:solidFill>
            <a:srgbClr val="028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653528" y="1984248"/>
            <a:ext cx="91440" cy="91440"/>
          </a:xfrm>
          <a:prstGeom prst="rect">
            <a:avLst/>
          </a:prstGeom>
          <a:solidFill>
            <a:srgbClr val="028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808976" y="1947672"/>
            <a:ext cx="1755648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750" b="1" i="0">
                <a:solidFill>
                  <a:srgbClr val="1A1A2E"/>
                </a:solidFill>
              </a:rPr>
              <a:t>Code Companion</a:t>
            </a:r>
          </a:p>
          <a:p>
            <a:pPr>
              <a:spcBef>
                <a:spcPts val="100"/>
              </a:spcBef>
            </a:pPr>
            <a:r>
              <a:rPr sz="700" b="0" i="0">
                <a:solidFill>
                  <a:srgbClr val="444458"/>
                </a:solidFill>
              </a:rPr>
              <a:t>Suggests patterns from codebase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653528" y="2368296"/>
            <a:ext cx="91440" cy="91440"/>
          </a:xfrm>
          <a:prstGeom prst="rect">
            <a:avLst/>
          </a:prstGeom>
          <a:solidFill>
            <a:srgbClr val="028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808976" y="2331720"/>
            <a:ext cx="1755648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750" b="1" i="0">
                <a:solidFill>
                  <a:srgbClr val="1A1A2E"/>
                </a:solidFill>
              </a:rPr>
              <a:t>MR Review Agent</a:t>
            </a:r>
          </a:p>
          <a:p>
            <a:pPr>
              <a:spcBef>
                <a:spcPts val="100"/>
              </a:spcBef>
            </a:pPr>
            <a:r>
              <a:rPr sz="700" b="0" i="0">
                <a:solidFill>
                  <a:srgbClr val="444458"/>
                </a:solidFill>
              </a:rPr>
              <a:t>Reviews against story intent + standards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653528" y="2752344"/>
            <a:ext cx="91440" cy="91440"/>
          </a:xfrm>
          <a:prstGeom prst="rect">
            <a:avLst/>
          </a:prstGeom>
          <a:solidFill>
            <a:srgbClr val="028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808976" y="2715768"/>
            <a:ext cx="1755648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750" b="1" i="0">
                <a:solidFill>
                  <a:srgbClr val="1A1A2E"/>
                </a:solidFill>
              </a:rPr>
              <a:t>Test Generator</a:t>
            </a:r>
          </a:p>
          <a:p>
            <a:pPr>
              <a:spcBef>
                <a:spcPts val="100"/>
              </a:spcBef>
            </a:pPr>
            <a:r>
              <a:rPr sz="700" b="0" i="0">
                <a:solidFill>
                  <a:srgbClr val="444458"/>
                </a:solidFill>
              </a:rPr>
              <a:t>AC-aligned tests on commit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653528" y="3136391"/>
            <a:ext cx="91440" cy="91440"/>
          </a:xfrm>
          <a:prstGeom prst="rect">
            <a:avLst/>
          </a:prstGeom>
          <a:solidFill>
            <a:srgbClr val="028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808976" y="3099815"/>
            <a:ext cx="1755648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750" b="1" i="0">
                <a:solidFill>
                  <a:srgbClr val="1A1A2E"/>
                </a:solidFill>
              </a:rPr>
              <a:t>Security Sentinel</a:t>
            </a:r>
          </a:p>
          <a:p>
            <a:pPr>
              <a:spcBef>
                <a:spcPts val="100"/>
              </a:spcBef>
            </a:pPr>
            <a:r>
              <a:rPr sz="700" b="0" i="0">
                <a:solidFill>
                  <a:srgbClr val="444458"/>
                </a:solidFill>
              </a:rPr>
              <a:t>Daily scan, auto-fix MRs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653528" y="3520439"/>
            <a:ext cx="91440" cy="91440"/>
          </a:xfrm>
          <a:prstGeom prst="rect">
            <a:avLst/>
          </a:prstGeom>
          <a:solidFill>
            <a:srgbClr val="028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808976" y="3483863"/>
            <a:ext cx="1755648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750" b="1" i="0">
                <a:solidFill>
                  <a:srgbClr val="1A1A2E"/>
                </a:solidFill>
              </a:rPr>
              <a:t>Standup Prep</a:t>
            </a:r>
          </a:p>
          <a:p>
            <a:pPr>
              <a:spcBef>
                <a:spcPts val="100"/>
              </a:spcBef>
            </a:pPr>
            <a:r>
              <a:rPr sz="700" b="0" i="0">
                <a:solidFill>
                  <a:srgbClr val="444458"/>
                </a:solidFill>
              </a:rPr>
              <a:t>Summaries from Git + Jira activity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747504" y="1673352"/>
            <a:ext cx="19202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50" b="1" i="0">
                <a:solidFill>
                  <a:srgbClr val="7C5CBF"/>
                </a:solidFill>
              </a:rPr>
              <a:t>POST-SPRINT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747504" y="1874520"/>
            <a:ext cx="1920240" cy="22860"/>
          </a:xfrm>
          <a:prstGeom prst="rect">
            <a:avLst/>
          </a:prstGeom>
          <a:solidFill>
            <a:srgbClr val="7C5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9747504" y="1984248"/>
            <a:ext cx="91440" cy="91440"/>
          </a:xfrm>
          <a:prstGeom prst="rect">
            <a:avLst/>
          </a:prstGeom>
          <a:solidFill>
            <a:srgbClr val="7C5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902952" y="1947672"/>
            <a:ext cx="1755648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750" b="1" i="0">
                <a:solidFill>
                  <a:srgbClr val="1A1A2E"/>
                </a:solidFill>
              </a:rPr>
              <a:t>AC Validator</a:t>
            </a:r>
          </a:p>
          <a:p>
            <a:pPr>
              <a:spcBef>
                <a:spcPts val="100"/>
              </a:spcBef>
            </a:pPr>
            <a:r>
              <a:rPr sz="700" b="0" i="0">
                <a:solidFill>
                  <a:srgbClr val="444458"/>
                </a:solidFill>
              </a:rPr>
              <a:t>Verifies 'done' matches criteria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747504" y="2368296"/>
            <a:ext cx="91440" cy="91440"/>
          </a:xfrm>
          <a:prstGeom prst="rect">
            <a:avLst/>
          </a:prstGeom>
          <a:solidFill>
            <a:srgbClr val="7C5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902952" y="2331720"/>
            <a:ext cx="1755648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750" b="1" i="0">
                <a:solidFill>
                  <a:srgbClr val="1A1A2E"/>
                </a:solidFill>
              </a:rPr>
              <a:t>Demo Deck Generator</a:t>
            </a:r>
          </a:p>
          <a:p>
            <a:pPr>
              <a:spcBef>
                <a:spcPts val="100"/>
              </a:spcBef>
            </a:pPr>
            <a:r>
              <a:rPr sz="700" b="0" i="0">
                <a:solidFill>
                  <a:srgbClr val="444458"/>
                </a:solidFill>
              </a:rPr>
              <a:t>Stakeholder-ready presentation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747504" y="2752344"/>
            <a:ext cx="91440" cy="91440"/>
          </a:xfrm>
          <a:prstGeom prst="rect">
            <a:avLst/>
          </a:prstGeom>
          <a:solidFill>
            <a:srgbClr val="7C5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902952" y="2715768"/>
            <a:ext cx="1755648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750" b="1" i="0">
                <a:solidFill>
                  <a:srgbClr val="1A1A2E"/>
                </a:solidFill>
              </a:rPr>
              <a:t>Retro Insights</a:t>
            </a:r>
          </a:p>
          <a:p>
            <a:pPr>
              <a:spcBef>
                <a:spcPts val="100"/>
              </a:spcBef>
            </a:pPr>
            <a:r>
              <a:rPr sz="700" b="0" i="0">
                <a:solidFill>
                  <a:srgbClr val="444458"/>
                </a:solidFill>
              </a:rPr>
              <a:t>Data-driven sprint patterns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0" y="5376672"/>
            <a:ext cx="12188952" cy="93268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65760" y="5449824"/>
            <a:ext cx="20116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1A1A2E"/>
                </a:solidFill>
              </a:rPr>
              <a:t>PROJECTED IMPACT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5650992"/>
            <a:ext cx="1097280" cy="36576"/>
          </a:xfrm>
          <a:prstGeom prst="rect">
            <a:avLst/>
          </a:prstGeom>
          <a:solidFill>
            <a:srgbClr val="F07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468880" y="5431536"/>
            <a:ext cx="17373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00B496"/>
                </a:solidFill>
              </a:rPr>
              <a:t>30%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468880" y="5870448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50" b="0" i="0">
                <a:solidFill>
                  <a:srgbClr val="444458"/>
                </a:solidFill>
              </a:rPr>
              <a:t>Faster sprint</a:t>
            </a:r>
          </a:p>
          <a:p>
            <a:pPr algn="ctr"/>
            <a:r>
              <a:rPr sz="750" b="0" i="0">
                <a:solidFill>
                  <a:srgbClr val="444458"/>
                </a:solidFill>
              </a:rPr>
              <a:t>planning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434840" y="5431536"/>
            <a:ext cx="17373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00B496"/>
                </a:solidFill>
              </a:rPr>
              <a:t>50%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434840" y="5870448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50" b="0" i="0">
                <a:solidFill>
                  <a:srgbClr val="444458"/>
                </a:solidFill>
              </a:rPr>
              <a:t>Faster first</a:t>
            </a:r>
          </a:p>
          <a:p>
            <a:pPr algn="ctr"/>
            <a:r>
              <a:rPr sz="750" b="0" i="0">
                <a:solidFill>
                  <a:srgbClr val="444458"/>
                </a:solidFill>
              </a:rPr>
              <a:t>MR review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400800" y="5431536"/>
            <a:ext cx="17373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00B496"/>
                </a:solidFill>
              </a:rPr>
              <a:t>85%+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400800" y="5870448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50" b="0" i="0">
                <a:solidFill>
                  <a:srgbClr val="444458"/>
                </a:solidFill>
              </a:rPr>
              <a:t>Test coverage</a:t>
            </a:r>
          </a:p>
          <a:p>
            <a:pPr algn="ctr"/>
            <a:r>
              <a:rPr sz="750" b="0" i="0">
                <a:solidFill>
                  <a:srgbClr val="444458"/>
                </a:solidFill>
              </a:rPr>
              <a:t>on new code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366759" y="5431536"/>
            <a:ext cx="17373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00B496"/>
                </a:solidFill>
              </a:rPr>
              <a:t>&lt;20min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366759" y="5870448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50" b="0" i="0">
                <a:solidFill>
                  <a:srgbClr val="444458"/>
                </a:solidFill>
              </a:rPr>
              <a:t>Demo prep</a:t>
            </a:r>
          </a:p>
          <a:p>
            <a:pPr algn="ctr"/>
            <a:r>
              <a:rPr sz="750" b="0" i="0">
                <a:solidFill>
                  <a:srgbClr val="444458"/>
                </a:solidFill>
              </a:rPr>
              <a:t>(vs 2+ hours)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332720" y="5431536"/>
            <a:ext cx="17373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00B496"/>
                </a:solidFill>
              </a:rPr>
              <a:t>40%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332720" y="5870448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50" b="0" i="0">
                <a:solidFill>
                  <a:srgbClr val="444458"/>
                </a:solidFill>
              </a:rPr>
              <a:t>Faster dev</a:t>
            </a:r>
          </a:p>
          <a:p>
            <a:pPr algn="ctr"/>
            <a:r>
              <a:rPr sz="750" b="0" i="0">
                <a:solidFill>
                  <a:srgbClr val="444458"/>
                </a:solidFill>
              </a:rPr>
              <a:t>onboarding</a:t>
            </a:r>
          </a:p>
        </p:txBody>
      </p:sp>
      <p:sp>
        <p:nvSpPr>
          <p:cNvPr id="72" name="Rectangle 71"/>
          <p:cNvSpPr/>
          <p:nvPr/>
        </p:nvSpPr>
        <p:spPr>
          <a:xfrm>
            <a:off x="0" y="6336792"/>
            <a:ext cx="12188952" cy="521207"/>
          </a:xfrm>
          <a:prstGeom prst="rect">
            <a:avLst/>
          </a:prstGeom>
          <a:solidFill>
            <a:srgbClr val="12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57200" y="6400800"/>
            <a:ext cx="112471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 i="1">
                <a:solidFill>
                  <a:srgbClr val="909AB0"/>
                </a:solidFill>
              </a:rPr>
              <a:t>"Platform engineering builds the paths teams walk on. ProjectQ makes those paths AI-native. Your team is N — ProjectQ makes it N+1."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57200" y="6638544"/>
            <a:ext cx="50292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650" b="0" i="0">
                <a:solidFill>
                  <a:srgbClr val="606A80"/>
                </a:solidFill>
              </a:rPr>
              <a:t>ProjectQ  |  Innovation Day 2026  |  Confidential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702552" y="6638544"/>
            <a:ext cx="50292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650" b="0" i="0">
                <a:solidFill>
                  <a:srgbClr val="606A80"/>
                </a:solidFill>
              </a:rPr>
              <a:t>Platform Engineering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